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4754880" cy="384048"/>
          </a:xfrm>
          <a:prstGeom prst="roundRect">
            <a:avLst/>
          </a:prstGeom>
          <a:solidFill>
            <a:srgbClr val="131A2A"/>
          </a:solidFill>
          <a:ln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1M1B  •  IBM SKILLSBUILD  •  AICTE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8FAFC"/>
                </a:solidFill>
              </a:defRPr>
            </a:pPr>
            <a:r>
              <a:t>EcoSort AI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Smart Waste Segregation &amp; Circular Recovery Assistant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AI-powered source-level waste classification guiding users to achieve UN SDG 12 targets.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6035040" cy="17830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182880" rtlCol="0" anchor="ctr"/>
          <a:lstStyle/>
          <a:p>
            <a:pPr algn="ctr">
              <a:defRPr sz="900" b="1">
                <a:solidFill>
                  <a:srgbClr val="34D399"/>
                </a:solidFill>
              </a:defRPr>
            </a:pPr>
            <a:r>
              <a:t>SUBMITTED BY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Pawan Tiwari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B.Tech Computer Science &amp; Engineering</a:t>
            </a:r>
            <a:br/>
            <a:r>
              <a:t>Ambalika Institute of Management &amp; Technology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AICTE STU ID: STU6a4f981e559f11783601182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462272"/>
            <a:ext cx="54864" cy="14538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0" y="4297680"/>
            <a:ext cx="4206240" cy="17830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182880" rtlCol="0" anchor="ctr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PROJECT METRICS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Primary SDG: SDG 12 (Target 12.5)</a:t>
            </a:r>
            <a:br/>
            <a:r>
              <a:t>• Core Engine: IBM Granite / LLM Logic</a:t>
            </a:r>
            <a:br/>
            <a:r>
              <a:t>• Interface: Reactive Streamlit UI</a:t>
            </a:r>
            <a:br/>
            <a:r>
              <a:t>• Mode: Real-time Multi-factor 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4462272"/>
            <a:ext cx="54864" cy="14538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84048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rPr dirty="0"/>
              <a:t>CONTEXT &amp;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SDG Alignment &amp; The Ground Reality Problem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rPr dirty="0"/>
              <a:t>Overcoming contamination at source through intelligent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120640" cy="32918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74320"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rPr dirty="0"/>
              <a:t>THE PROBLEM STATEMENT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rPr dirty="0"/>
              <a:t>Commingled Waste Streams</a:t>
            </a:r>
          </a:p>
          <a:p>
            <a:br>
              <a:rPr dirty="0"/>
            </a:br>
            <a:r>
              <a:rPr dirty="0"/>
              <a:t>• Source Mixing: Wet organic food, dry recyclables, and toxic cells are dumped into single bins.</a:t>
            </a:r>
            <a:br>
              <a:rPr dirty="0"/>
            </a:br>
            <a:r>
              <a:rPr dirty="0"/>
              <a:t>• Landfill Burden: Over 70% of recyclables get ruined and degrade into methane in open dumps.</a:t>
            </a:r>
            <a:br>
              <a:rPr dirty="0"/>
            </a:br>
            <a:r>
              <a:rPr dirty="0"/>
              <a:t>• Occupational Risk: Exposes sanitation workers to sharp glassware and chemical battery leaks.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54864" cy="2962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32918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74320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rPr dirty="0"/>
              <a:t>SDG ALIGNMENT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rPr dirty="0"/>
              <a:t>UN Sustainable Goals</a:t>
            </a:r>
          </a:p>
          <a:p>
            <a:br>
              <a:rPr dirty="0"/>
            </a:br>
            <a:r>
              <a:rPr dirty="0"/>
              <a:t>• Primary: SDG 12 (Responsible Consumption &amp; Production - Target 12.5).</a:t>
            </a:r>
            <a:br>
              <a:rPr dirty="0"/>
            </a:br>
            <a:r>
              <a:rPr dirty="0"/>
              <a:t>• Secondary: SDG 11 (Sustainable Cities and Communities - Target 11.6).</a:t>
            </a:r>
            <a:br>
              <a:rPr dirty="0"/>
            </a:br>
            <a:r>
              <a:rPr dirty="0"/>
              <a:t>• Objective: Preventing recyclables from ending up in open dumps through source-level AI precision.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27632"/>
            <a:ext cx="54864" cy="29626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10515600" cy="12801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182880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HOW MIGHT WE (HMW) STATEMENT</a:t>
            </a:r>
          </a:p>
          <a:p>
            <a:pPr>
              <a:defRPr sz="1350" b="1">
                <a:solidFill>
                  <a:srgbClr val="F8FAFC"/>
                </a:solidFill>
              </a:defRPr>
            </a:pPr>
            <a:r>
              <a:t>"How might we use AI to guide users in segregating waste at the exact point of disposal so that waste segregation and material recovery can become accurate, scalable, and habitual?"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48072"/>
            <a:ext cx="54864" cy="9509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84048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STAKEHOLDERS &amp;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Target Users &amp; The Need for AI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Bridging the gap between static signage and active segregation habits.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3375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WHO BENEFITS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Target Users</a:t>
            </a:r>
          </a:p>
          <a:p>
            <a:endParaRP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Students &amp; campus faculties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Cafeteria &amp; food court staff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Residential housing societies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Municipal sanitation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54864" cy="44256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WHY POSTERS FAIL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Static Poster Limits</a:t>
            </a:r>
          </a:p>
          <a:p>
            <a:endParaRP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Ignored passive signage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No help on composite items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Zero pre-disposal guidance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No habit reinforcement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73352"/>
            <a:ext cx="54864" cy="44256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375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HOW AI TRANSFORMS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The AI Advantage</a:t>
            </a:r>
          </a:p>
          <a:p>
            <a:endParaRP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Instant real-time precision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Multimodal text/image triage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Prep guidance (rinse/crush)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Measurable sustainability tips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73352"/>
            <a:ext cx="54864" cy="44256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84048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ENGINEERING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Solution Architecture &amp; Data Flow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From user query to color-coded municipal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2468880" cy="43891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74320" rtlCol="0" anchor="ctr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rPr dirty="0"/>
              <a:t>01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rPr dirty="0"/>
              <a:t>USER INPUT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rPr dirty="0"/>
              <a:t>Query / Capture</a:t>
            </a:r>
          </a:p>
          <a:p>
            <a:br>
              <a:rPr dirty="0"/>
            </a:br>
            <a:r>
              <a:rPr dirty="0"/>
              <a:t>User enters item name (e.g. 'banana peel') or submits an image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737360"/>
            <a:ext cx="2468880" cy="43891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74320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rPr dirty="0">
                <a:solidFill>
                  <a:schemeClr val="bg1"/>
                </a:solidFill>
              </a:rPr>
              <a:t>02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rPr dirty="0"/>
              <a:t>AI ENGINE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rPr dirty="0"/>
              <a:t>Granite / LLM</a:t>
            </a:r>
          </a:p>
          <a:p>
            <a:br>
              <a:rPr dirty="0"/>
            </a:br>
            <a:r>
              <a:rPr dirty="0"/>
              <a:t>Extracts material profile: Organic pulp, PET #1, laminates, or heavy metals.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901952"/>
            <a:ext cx="54864" cy="40599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74320" rtlCol="0" anchor="ctr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03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TRIAGE RULES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Municipal Logic</a:t>
            </a:r>
          </a:p>
          <a:p>
            <a:br/>
            <a:r>
              <a:t>Maps contamination level against standard color bins (Green, Blue, Red/Black).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737360"/>
            <a:ext cx="2468880" cy="43891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74320" rtlCol="0" anchor="ctr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04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OUTPUT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Actionable Output</a:t>
            </a:r>
          </a:p>
          <a:p>
            <a:br/>
            <a:r>
              <a:t>Delivers exact bin, mandatory preparation steps, and environmental benefits.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84048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GOVERNANCE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Responsible AI Considerations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Aligned strictly with IBM SkillsBuild ethical AI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120640" cy="21945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INCLUSIVE MODEL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Fairness &amp; Localization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Calibrated for Indian and regional waste types (tea kulhads, coconut husks, snack pouches) to prevent classification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54864" cy="18653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21945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HABIT FORMATION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Explainability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Explains the 'Why' behind bin allocation so users learn the mechanics of recycling instead of relying on a black box.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73352"/>
            <a:ext cx="54864" cy="18653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5120640" cy="21945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ZERO BIOMETRICS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Privacy by Design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Operates exclusively on object data. Zero facial imagery, personal telemetry, or identifiable data is captured or saved.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96512"/>
            <a:ext cx="54864" cy="18653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PHYSICAL SAFETY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Safety &amp; Hazard Flags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Detects toxic items (lithium batteries, broken bulbs, solvents) and triggers bold visual safety warnings instantly.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096512"/>
            <a:ext cx="54864" cy="18653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84048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Prototype Demonstration &amp; Test Cases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Verified interactive Streamlit assistant in live operation.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67665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320040"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rPr sz="1400" dirty="0"/>
              <a:t>ACTIVE STREAMLIT GUI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endParaRPr lang="en-US" dirty="0"/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rPr sz="4400" dirty="0"/>
              <a:t>Live Execution Result</a:t>
            </a:r>
            <a:endParaRPr lang="en-US" sz="4400" dirty="0"/>
          </a:p>
          <a:p>
            <a:pPr>
              <a:defRPr sz="1800" b="1">
                <a:solidFill>
                  <a:srgbClr val="F8FAFC"/>
                </a:solidFill>
              </a:defRPr>
            </a:pP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54864" cy="44256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0" y="1508760"/>
            <a:ext cx="35661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VALIDATED TEST CASES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Inference Verification</a:t>
            </a:r>
          </a:p>
          <a:p>
            <a:br/>
            <a:r>
              <a:t>🍌 Banana Peel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🟢 Green Bin (Wet/Compost)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Discard directly without plastic bag.</a:t>
            </a:r>
          </a:p>
          <a:p>
            <a:br/>
            <a:r>
              <a:t>🧴 Plastic Bottle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🔵 Blue Bin (Dry Recyclable)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Rinse residual liquid and crush body.</a:t>
            </a:r>
          </a:p>
          <a:p>
            <a:br/>
            <a:r>
              <a:t>🔋 Lithium Battery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🔴 Red/Black Bin (Hazardous)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Insulate terminals with tape before dropoff.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73352"/>
            <a:ext cx="54864" cy="44256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A36D8-75F7-13F6-C931-54EF6371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" y="51655"/>
            <a:ext cx="12148867" cy="675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1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A87BBB-7E62-78A5-5EB7-A15F922CA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6" y="125191"/>
            <a:ext cx="12136214" cy="647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84048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OUTCOMES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Expected Impact &amp; Future Scope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Quantifiable environmental progress and technological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3375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rPr dirty="0"/>
              <a:t>PLANET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rPr dirty="0"/>
              <a:t>Environmental Impact</a:t>
            </a:r>
          </a:p>
          <a:p>
            <a:endParaRPr dirty="0"/>
          </a:p>
          <a:p>
            <a:pPr>
              <a:defRPr sz="1250">
                <a:solidFill>
                  <a:srgbClr val="F8FAFC"/>
                </a:solidFill>
              </a:defRPr>
            </a:pPr>
            <a:r>
              <a:rPr dirty="0"/>
              <a:t>• Significant reduction in landfill burden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rPr dirty="0"/>
              <a:t>• Eliminates anaerobic methane production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rPr dirty="0"/>
              <a:t>• Protects recyclables from wet damage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rPr dirty="0"/>
              <a:t>• Maximizes circular plastic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54864" cy="44256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PEOPLE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Worker Dignity</a:t>
            </a:r>
          </a:p>
          <a:p>
            <a:endParaRP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Protects waste staff from sharp cuts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Eliminates toxic chemical contact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Lowers manual segregation burden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Instills responsible campus civic habits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73352"/>
            <a:ext cx="54864" cy="44256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37560" cy="47548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ROADMAP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Campus Metric &amp; Future</a:t>
            </a:r>
          </a:p>
          <a:p>
            <a:endParaRP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Helps campus meet Green Audit scores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Swachh Campus ranking benchmark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IoT smart dustbins with camera lids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Automatic mechanical sorting flap triggers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73352"/>
            <a:ext cx="54864" cy="44256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758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Pawan Tiwari</cp:lastModifiedBy>
  <cp:revision>4</cp:revision>
  <dcterms:created xsi:type="dcterms:W3CDTF">2013-01-27T09:14:16Z</dcterms:created>
  <dcterms:modified xsi:type="dcterms:W3CDTF">2026-09-22T14:05:53Z</dcterms:modified>
  <cp:category/>
</cp:coreProperties>
</file>