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943600" cy="457200"/>
          </a:xfrm>
          <a:prstGeom prst="roundRect">
            <a:avLst/>
          </a:prstGeom>
          <a:solidFill>
            <a:srgbClr val="16382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</a:defRPr>
            </a:pPr>
            <a:r>
              <a:t>1M1B × IBM SkillsBuild × AICTE 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EcoSort AI</a:t>
            </a:r>
          </a:p>
          <a:p>
            <a:pPr>
              <a:defRPr sz="2200">
                <a:solidFill>
                  <a:srgbClr val="00E676"/>
                </a:solidFill>
              </a:defRPr>
            </a:pPr>
            <a:r>
              <a:t>Intelligent Source-Level Waste Segregation &amp; Disposal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943600" cy="1645920"/>
          </a:xfrm>
          <a:prstGeom prst="roundRect">
            <a:avLst/>
          </a:prstGeom>
          <a:solidFill>
            <a:srgbClr val="1638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Submitted by: Pawan Tiwari</a:t>
            </a:r>
          </a:p>
          <a:p>
            <a:pPr>
              <a:defRPr sz="1300">
                <a:solidFill>
                  <a:srgbClr val="DCDCDC"/>
                </a:solidFill>
              </a:defRPr>
            </a:pPr>
            <a:r>
              <a:t>B.Tech Computer Science &amp; Engineering</a:t>
            </a:r>
            <a:br/>
            <a:r>
              <a:t>Ambalika Institute of Management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CONTEXT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SDG Alignment &amp; Ground Reality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34747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FFB703"/>
                </a:solidFill>
              </a:defRPr>
            </a:pPr>
            <a:r>
              <a:t>The Ground Reality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Source Mixing: Wet food waste, clean recyclables, and toxic cells are commingled into single trash containers.</a:t>
            </a:r>
            <a:br/>
            <a:r>
              <a:t>• Landfill Crisis: Contamination prevents up to 70% of recyclable materials from processing, leading to heavy methane emissions.</a:t>
            </a:r>
            <a:br/>
            <a:r>
              <a:t>• Health Hazards: Manual handling of mixed waste exposes sanitation workers to direct chemical and physical risks.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4747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UN SDG Framework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Primary Goal: SDG 12 (Responsible Consumption &amp; Production)</a:t>
            </a:r>
            <a:br/>
            <a:r>
              <a:t>  - Sub-Target 12.5: Substantially reduce waste generation through prevention, reduction, recycling, and reuse.</a:t>
            </a:r>
            <a:br/>
            <a:br/>
            <a:r>
              <a:t>• Secondary Goal: SDG 11 (Sustainable Cities &amp; Communities)</a:t>
            </a:r>
            <a:br/>
            <a:r>
              <a:t>  - Target 11.6: Reduce adverse per capita environmental impact of municipal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638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How Might We (HMW) Design Statement: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"How might we use AI to guide everyday users in segregating waste at the exact point of disposal so that material recovery and recycling become effortless and accurate?"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STAKEHOLDERS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Target Users &amp; Why AI is Essential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Target Users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College students, faculty &amp; hostelites</a:t>
            </a:r>
            <a:br/>
            <a:r>
              <a:t>• Campus cafeteria &amp; canteen teams</a:t>
            </a:r>
            <a:br/>
            <a:r>
              <a:t>• Residential housing societies</a:t>
            </a:r>
            <a:br/>
            <a:r>
              <a:t>• Municipal &amp; campus sanitation workers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FFB703"/>
                </a:solidFill>
              </a:defRPr>
            </a:pPr>
            <a:r>
              <a:t>Limitations of Static Bins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Static color stickers fail on composite items (e.g., plastic-lined paper coffee cups).</a:t>
            </a:r>
            <a:br/>
            <a:r>
              <a:t>• Zero user awareness on prep steps like rinsing oily residues or taping battery 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The AI Advantage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Real-Time Resolution: Instantly classifies complex items into exact bin colors.</a:t>
            </a:r>
            <a:br/>
            <a:r>
              <a:t>• Habit Formation: Delivers prep steps (rinse/crush) + environmental feedback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EcoSort AI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34747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Step 1: Input Layer</a:t>
            </a:r>
          </a:p>
          <a:p>
            <a:br/>
            <a:pPr>
              <a:defRPr sz="1200">
                <a:solidFill>
                  <a:srgbClr val="DCDCDC"/>
                </a:solidFill>
              </a:defRPr>
            </a:pPr>
            <a:r>
              <a:t>User provides input via text query or image capture (e.g., 'plastic bottle').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68880" cy="3474720"/>
          </a:xfrm>
          <a:prstGeom prst="roundRect">
            <a:avLst/>
          </a:prstGeom>
          <a:solidFill>
            <a:srgbClr val="1638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500" b="1">
                <a:solidFill>
                  <a:srgbClr val="00E676"/>
                </a:solidFill>
              </a:defRPr>
            </a:pPr>
            <a:r>
              <a:t>Step 2: AI Engine</a:t>
            </a:r>
          </a:p>
          <a:p>
            <a:br/>
            <a:pPr>
              <a:defRPr sz="1200">
                <a:solidFill>
                  <a:srgbClr val="DCDCDC"/>
                </a:solidFill>
              </a:defRPr>
            </a:pPr>
            <a:r>
              <a:t>IBM Granite / Multimodal LLM extracts material profile (PET, Cardboard, Organic).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468880" cy="34747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Step 3: Logic Engine</a:t>
            </a:r>
          </a:p>
          <a:p>
            <a:br/>
            <a:pPr>
              <a:defRPr sz="1200">
                <a:solidFill>
                  <a:srgbClr val="DCDCDC"/>
                </a:solidFill>
              </a:defRPr>
            </a:pPr>
            <a:r>
              <a:t>Evaluates contamination level and cross-references municipal bin regulations.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011680"/>
            <a:ext cx="2468880" cy="34747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Step 4: Action Output</a:t>
            </a:r>
          </a:p>
          <a:p>
            <a:br/>
            <a:pPr>
              <a:defRPr sz="1200">
                <a:solidFill>
                  <a:srgbClr val="DCDCDC"/>
                </a:solidFill>
              </a:defRPr>
            </a:pPr>
            <a:r>
              <a:t>Displays bin color, mandatory pre-disposal steps, and sustainability savings.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ETHICS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Responsible AI Considerations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Fairness &amp; Localization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Accurately identifies localized Indian waste items (kulhads, coconut husks, snack sachets) without data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Explainability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Clearly explains the rationale behind every sorting decision to instill long-term user segregation habits.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Privacy-First Design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Operates exclusively on object imagery; completely avoids processing human faces or personal identifiers.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Safety &amp; Hazards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Triggers high-priority visual caution alerts whenever sharp glass, e-waste, or batteries are detected.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Prototype Demonstration (Streamlit Web App)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1638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[ Streamlit Demo Screenshot Container ]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Working web app deployed locally with interactive classification.</a:t>
            </a:r>
            <a:br/>
            <a:r>
              <a:t>• Crop &amp; paste your Streamlit screenshot over this card.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645920"/>
            <a:ext cx="4206240" cy="43891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Validated Test Cases</a:t>
            </a:r>
          </a:p>
          <a:p>
            <a:br/>
            <a:pPr>
              <a:defRPr sz="1400" b="1">
                <a:solidFill>
                  <a:srgbClr val="FFB703"/>
                </a:solidFill>
              </a:defRPr>
            </a:pPr>
            <a:r>
              <a:t>🍌 Banana Peel</a:t>
            </a:r>
          </a:p>
          <a:p>
            <a:pPr>
              <a:defRPr sz="1200">
                <a:solidFill>
                  <a:srgbClr val="DCDCDC"/>
                </a:solidFill>
              </a:defRPr>
            </a:pPr>
            <a:r>
              <a:t>🟢 Green Bin (Wet/Compost)</a:t>
            </a:r>
            <a:br/>
            <a:r>
              <a:t>Action: Discard directly without polybag.</a:t>
            </a:r>
          </a:p>
          <a:p>
            <a:br/>
            <a:pPr>
              <a:defRPr sz="1400" b="1">
                <a:solidFill>
                  <a:srgbClr val="FFB703"/>
                </a:solidFill>
              </a:defRPr>
            </a:pPr>
            <a:r>
              <a:t>🧴 Plastic Bottle</a:t>
            </a:r>
          </a:p>
          <a:p>
            <a:pPr>
              <a:defRPr sz="1200">
                <a:solidFill>
                  <a:srgbClr val="DCDCDC"/>
                </a:solidFill>
              </a:defRPr>
            </a:pPr>
            <a:r>
              <a:t>🔵 Blue Bin (Dry Recyclable)</a:t>
            </a:r>
            <a:br/>
            <a:r>
              <a:t>Action: Empty liquid, rinse &amp; crush.</a:t>
            </a:r>
          </a:p>
          <a:p>
            <a:br/>
            <a:pPr>
              <a:defRPr sz="1400" b="1">
                <a:solidFill>
                  <a:srgbClr val="FFB703"/>
                </a:solidFill>
              </a:defRPr>
            </a:pPr>
            <a:r>
              <a:t>🔋 Lithium Cell</a:t>
            </a:r>
          </a:p>
          <a:p>
            <a:pPr>
              <a:defRPr sz="1200">
                <a:solidFill>
                  <a:srgbClr val="DCDCDC"/>
                </a:solidFill>
              </a:defRPr>
            </a:pPr>
            <a:r>
              <a:t>🔴 Red/Black Bin (Hazardous E-Waste)</a:t>
            </a:r>
            <a:br/>
            <a:r>
              <a:t>Action: Tape terminals &amp; deposit at e-kiosk.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OUTCOMES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Measurable Impact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00E676"/>
                </a:solidFill>
              </a:defRPr>
            </a:pPr>
            <a:r>
              <a:t>Environmental Impact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Landfill Diversion: Significantly lowers landfill load and stops methane formation.</a:t>
            </a:r>
            <a:br/>
            <a:r>
              <a:t>• Circular Value: Improves yield and quality of recycled plastics and paper.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00E676"/>
                </a:solidFill>
              </a:defRPr>
            </a:pPr>
            <a:r>
              <a:t>Social &amp; Occupational Dignity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Worker Safety: Protects sanitation staff from hazardous cuts and chemical exposure.</a:t>
            </a:r>
            <a:br/>
            <a:r>
              <a:t>• Community Pride: Enhances civic responsibility across campus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00E676"/>
                </a:solidFill>
              </a:defRPr>
            </a:pPr>
            <a:r>
              <a:t>Campus Benchmarking &amp; Future</a:t>
            </a:r>
          </a:p>
          <a:p>
            <a:br/>
            <a:pPr>
              <a:defRPr sz="1300">
                <a:solidFill>
                  <a:srgbClr val="DCDCDC"/>
                </a:solidFill>
              </a:defRPr>
            </a:pPr>
            <a:r>
              <a:t>• Green Audit: Helps institutions secure higher ratings in environmental certifications.</a:t>
            </a:r>
            <a:br/>
            <a:r>
              <a:t>• Future IoT Scope: Integration with camera-enabled smart bin lids for automatic mechanical sorting.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